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5" r:id="rId7"/>
  </p:sldIdLst>
  <p:sldSz cx="14630400" cy="8229600"/>
  <p:notesSz cx="8229600" cy="14630400"/>
  <p:embeddedFontLst>
    <p:embeddedFont>
      <p:font typeface="Cabin" charset="0"/>
      <p:regular r:id="rId9"/>
    </p:embeddedFont>
    <p:embeddedFont>
      <p:font typeface="Unbounded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32FC64-3AAC-4798-B659-272FEB37E7EE}">
          <p14:sldIdLst>
            <p14:sldId id="256"/>
          </p14:sldIdLst>
        </p14:section>
        <p14:section name="Untitled Section" id="{2258C5B9-7237-4AFB-A504-CBFD8E85B3A0}">
          <p14:sldIdLst>
            <p14:sldId id="257"/>
            <p14:sldId id="258"/>
            <p14:sldId id="260"/>
            <p14:sldId id="259"/>
            <p14:sldId id="265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9" d="100"/>
          <a:sy n="39" d="100"/>
        </p:scale>
        <p:origin x="-1384" y="-52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43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ocialwelfare.vikaspedia.in/viewcontent/social-welfare/social-awareness/consumer-education/safe-driving/road-accidents-in-india?lgn=en" TargetMode="External"/><Relationship Id="rId4" Type="http://schemas.openxmlformats.org/officeDocument/2006/relationships/hyperlink" Target="https://www.dataforindia.com/road-accident-deaths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524" y="38904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PROJECT: ROAD</a:t>
            </a:r>
          </a:p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ACCIDENT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9391" y="2501091"/>
            <a:ext cx="16479078" cy="41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4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goal: To inform and empower </a:t>
            </a:r>
          </a:p>
          <a:p>
            <a:pPr marL="0" indent="0">
              <a:lnSpc>
                <a:spcPts val="3000"/>
              </a:lnSpc>
              <a:buNone/>
            </a:pPr>
            <a:endParaRPr lang="en-US" sz="4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sz="4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 to make safer choices on the road.</a:t>
            </a:r>
          </a:p>
          <a:p>
            <a:pPr marL="0" indent="0">
              <a:lnSpc>
                <a:spcPts val="3000"/>
              </a:lnSpc>
              <a:buNone/>
            </a:pPr>
            <a:endParaRPr lang="en-US" sz="4400" dirty="0">
              <a:solidFill>
                <a:srgbClr val="CAD6DE"/>
              </a:solidFill>
              <a:latin typeface="Cabin" pitchFamily="34" charset="0"/>
            </a:endParaRPr>
          </a:p>
          <a:p>
            <a:pPr marL="0" indent="0">
              <a:lnSpc>
                <a:spcPts val="3000"/>
              </a:lnSpc>
              <a:buNone/>
            </a:pP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9391" y="500218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4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statistics: Over 1.3 million</a:t>
            </a:r>
          </a:p>
          <a:p>
            <a:pPr marL="0" indent="0">
              <a:lnSpc>
                <a:spcPts val="3000"/>
              </a:lnSpc>
              <a:buNone/>
            </a:pPr>
            <a:endParaRPr lang="en-US" sz="4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sz="4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people die each year from road </a:t>
            </a:r>
          </a:p>
          <a:p>
            <a:pPr marL="0" indent="0">
              <a:lnSpc>
                <a:spcPts val="3000"/>
              </a:lnSpc>
              <a:buNone/>
            </a:pPr>
            <a:endParaRPr lang="en-US" sz="44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sz="4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crashes globally (WHO).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07" y="493307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Human Cost: Impact of Road Accidents  By Road Surface and Weather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33476" y="4284619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chemeClr val="bg1"/>
                </a:solidFill>
              </a:rPr>
              <a:t>Rain</a:t>
            </a:r>
            <a:r>
              <a:rPr lang="en-US" sz="2000" dirty="0">
                <a:solidFill>
                  <a:schemeClr val="bg1"/>
                </a:solidFill>
              </a:rPr>
              <a:t>: Wet roads </a:t>
            </a:r>
            <a:r>
              <a:rPr lang="en-US" dirty="0">
                <a:solidFill>
                  <a:schemeClr val="bg1"/>
                </a:solidFill>
              </a:rPr>
              <a:t>reduce</a:t>
            </a:r>
            <a:r>
              <a:rPr lang="en-US" sz="2000" dirty="0">
                <a:solidFill>
                  <a:schemeClr val="bg1"/>
                </a:solidFill>
              </a:rPr>
              <a:t> tire traction, increasing </a:t>
            </a:r>
            <a:r>
              <a:rPr lang="en-US" dirty="0">
                <a:solidFill>
                  <a:schemeClr val="bg1"/>
                </a:solidFill>
              </a:rPr>
              <a:t>stopping</a:t>
            </a:r>
            <a:r>
              <a:rPr lang="en-US" sz="2000" dirty="0">
                <a:solidFill>
                  <a:schemeClr val="bg1"/>
                </a:solidFill>
              </a:rPr>
              <a:t> distances and the risk of hydroplaning. Rain can also </a:t>
            </a:r>
            <a:r>
              <a:rPr lang="en-US" dirty="0">
                <a:solidFill>
                  <a:schemeClr val="bg1"/>
                </a:solidFill>
              </a:rPr>
              <a:t>obscure visibility, making it harder for drivers to see hazards or other vehicles.</a:t>
            </a:r>
          </a:p>
        </p:txBody>
      </p:sp>
      <p:sp>
        <p:nvSpPr>
          <p:cNvPr id="4" name="Text 2"/>
          <p:cNvSpPr/>
          <p:nvPr/>
        </p:nvSpPr>
        <p:spPr>
          <a:xfrm>
            <a:off x="5357813" y="442376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A52E468C-5A00-CEAB-E421-1F11069D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709" y="4284618"/>
            <a:ext cx="38945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Fog/Snow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Dense fog drastically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reduces visibility,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making snow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and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snow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significantly decrease traction, especially on bridges and overpasses, making it difficult for vehicles to maintain control.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="" xmlns:a16="http://schemas.microsoft.com/office/drawing/2014/main" id="{3D5230AD-50AE-1E7D-14CB-8FB9F3D39D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25995" y="4262852"/>
            <a:ext cx="51188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Strong gusts of wind can cause drivers to lose control, particularly for high-profile vehicles like trucks, buses, and motorcycles.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Extreme Heat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Heat can cause tire blowouts, especially if the tires are underinflated, and it can cause fatigue among drivers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95115" y="192821"/>
            <a:ext cx="8837307" cy="143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5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</a:t>
            </a: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</a:t>
            </a:r>
            <a:r>
              <a:rPr lang="en-US" sz="355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tegories </a:t>
            </a: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of </a:t>
            </a:r>
            <a:r>
              <a:rPr lang="en-US" sz="355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casualties and accidents : Responsible for </a:t>
            </a: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Road Accidents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707550" y="2445149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9488600" y="2444932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DC1142AE-3ED9-E4D5-938C-E5D63D00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6" y="-25728"/>
            <a:ext cx="5320945" cy="37739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DDD3509-0247-6520-FD4B-C5840015A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8" y="3633074"/>
            <a:ext cx="5320944" cy="456784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139509" y="2449285"/>
            <a:ext cx="306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Current Year Casualties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76854" y="2476462"/>
            <a:ext cx="3017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Current Year </a:t>
            </a:r>
            <a:r>
              <a:rPr lang="en-US" sz="2400" dirty="0" smtClean="0">
                <a:solidFill>
                  <a:schemeClr val="bg1"/>
                </a:solidFill>
              </a:rPr>
              <a:t>Accidents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20580" y="5324492"/>
            <a:ext cx="2353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Selight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Casualties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5982" y="3815831"/>
            <a:ext cx="2175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Fatal  </a:t>
            </a:r>
            <a:r>
              <a:rPr lang="en-US" sz="2400" dirty="0">
                <a:solidFill>
                  <a:schemeClr val="bg1"/>
                </a:solidFill>
              </a:rPr>
              <a:t>Casualties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68093" y="3827287"/>
            <a:ext cx="2428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Serious Casualties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Shape 1"/>
          <p:cNvSpPr/>
          <p:nvPr/>
        </p:nvSpPr>
        <p:spPr>
          <a:xfrm>
            <a:off x="5742055" y="3797195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Shape 1"/>
          <p:cNvSpPr/>
          <p:nvPr/>
        </p:nvSpPr>
        <p:spPr>
          <a:xfrm>
            <a:off x="9457643" y="3763706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8" name="Shape 1"/>
          <p:cNvSpPr/>
          <p:nvPr/>
        </p:nvSpPr>
        <p:spPr>
          <a:xfrm>
            <a:off x="5778305" y="5275505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814" y="808434"/>
            <a:ext cx="13038773" cy="133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 smtClean="0">
                <a:solidFill>
                  <a:srgbClr val="FFFFFF"/>
                </a:solidFill>
                <a:latin typeface="Unbounded" pitchFamily="34" charset="0"/>
              </a:rPr>
              <a:t>Lets see impact of casualties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4" y="2600682"/>
            <a:ext cx="568404" cy="568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814" y="3396377"/>
            <a:ext cx="3003947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smtClean="0">
                <a:solidFill>
                  <a:schemeClr val="bg1"/>
                </a:solidFill>
              </a:rPr>
              <a:t>CY Casualties  : Road </a:t>
            </a:r>
            <a:r>
              <a:rPr lang="en-US" dirty="0">
                <a:solidFill>
                  <a:schemeClr val="bg1"/>
                </a:solidFill>
              </a:rPr>
              <a:t>accidents are a major public health concern in India, with over 450,000 reported accidents responsible for over 150,000 deaths in 2022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hi-IN" dirty="0">
              <a:solidFill>
                <a:schemeClr val="bg1"/>
              </a:solidFill>
            </a:endParaRPr>
          </a:p>
          <a:p>
            <a:r>
              <a:rPr lang="en-US" sz="1600" dirty="0">
                <a:hlinkClick r:id="rId4"/>
              </a:rPr>
              <a:t/>
            </a:r>
            <a:br>
              <a:rPr lang="en-US" sz="1600" dirty="0">
                <a:hlinkClick r:id="rId4"/>
              </a:rPr>
            </a:b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4140756" y="3396377"/>
            <a:ext cx="3003947" cy="177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 smtClean="0">
                <a:solidFill>
                  <a:schemeClr val="bg1"/>
                </a:solidFill>
              </a:rPr>
              <a:t>CY Accidents : Total </a:t>
            </a:r>
            <a:r>
              <a:rPr lang="en-US" dirty="0">
                <a:solidFill>
                  <a:schemeClr val="bg1"/>
                </a:solidFill>
              </a:rPr>
              <a:t>number of fatal road </a:t>
            </a:r>
            <a:r>
              <a:rPr lang="en-US" dirty="0" smtClean="0">
                <a:solidFill>
                  <a:schemeClr val="bg1"/>
                </a:solidFill>
              </a:rPr>
              <a:t>accidents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had </a:t>
            </a:r>
            <a:r>
              <a:rPr lang="en-US" dirty="0">
                <a:solidFill>
                  <a:schemeClr val="bg1"/>
                </a:solidFill>
              </a:rPr>
              <a:t>increased from 1,42,163 in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2021 </a:t>
            </a:r>
            <a:r>
              <a:rPr lang="en-US" dirty="0">
                <a:solidFill>
                  <a:schemeClr val="bg1"/>
                </a:solidFill>
              </a:rPr>
              <a:t>to 1,55,781 in 2022,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registering </a:t>
            </a:r>
            <a:r>
              <a:rPr lang="en-US" dirty="0">
                <a:solidFill>
                  <a:schemeClr val="bg1"/>
                </a:solidFill>
              </a:rPr>
              <a:t>an increase of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9.6 percent 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>
                <a:hlinkClick r:id="rId5"/>
              </a:rPr>
              <a:t/>
            </a:r>
            <a:br>
              <a:rPr lang="en-US" sz="1600" dirty="0">
                <a:hlinkClick r:id="rId5"/>
              </a:rPr>
            </a:br>
            <a:endParaRPr lang="en-US" sz="17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489" y="2600682"/>
            <a:ext cx="568404" cy="568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486273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Types of </a:t>
            </a: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vehicle </a:t>
            </a: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: </a:t>
            </a: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Responsible for Road </a:t>
            </a:r>
          </a:p>
          <a:p>
            <a:pPr>
              <a:lnSpc>
                <a:spcPts val="5500"/>
              </a:lnSpc>
            </a:pP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</a:rPr>
              <a:t>Accidents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52019" y="2386989"/>
            <a:ext cx="2542290" cy="437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Agricultural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9752" y="3321087"/>
            <a:ext cx="119278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3600" dirty="0" smtClean="0">
                <a:solidFill>
                  <a:schemeClr val="bg1"/>
                </a:solidFill>
              </a:rPr>
              <a:t>Bike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lnSpc>
                <a:spcPts val="3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3201" y="4168834"/>
            <a:ext cx="85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Bus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1001060" y="5318063"/>
            <a:ext cx="12763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Other</a:t>
            </a:r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1066376" y="6379409"/>
            <a:ext cx="8835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Van</a:t>
            </a:r>
            <a:endParaRPr lang="en-US" sz="3600" dirty="0"/>
          </a:p>
        </p:txBody>
      </p:sp>
      <p:sp>
        <p:nvSpPr>
          <p:cNvPr id="13" name="Shape 1"/>
          <p:cNvSpPr/>
          <p:nvPr/>
        </p:nvSpPr>
        <p:spPr>
          <a:xfrm>
            <a:off x="400625" y="2314517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4" name="Shape 1"/>
          <p:cNvSpPr/>
          <p:nvPr/>
        </p:nvSpPr>
        <p:spPr>
          <a:xfrm>
            <a:off x="415065" y="3271028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5" name="Shape 1"/>
          <p:cNvSpPr/>
          <p:nvPr/>
        </p:nvSpPr>
        <p:spPr>
          <a:xfrm>
            <a:off x="467793" y="4291922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6" name="Shape 1"/>
          <p:cNvSpPr/>
          <p:nvPr/>
        </p:nvSpPr>
        <p:spPr>
          <a:xfrm>
            <a:off x="503731" y="5398366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Shape 1"/>
          <p:cNvSpPr/>
          <p:nvPr/>
        </p:nvSpPr>
        <p:spPr>
          <a:xfrm>
            <a:off x="467792" y="6486594"/>
            <a:ext cx="431959" cy="43195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11975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</a:rPr>
              <a:t>Other calculations we </a:t>
            </a: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</a:rPr>
              <a:t>can</a:t>
            </a: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</a:rPr>
              <a:t> </a:t>
            </a:r>
            <a:r>
              <a:rPr lang="en-US" sz="4400" dirty="0" err="1" smtClean="0">
                <a:solidFill>
                  <a:srgbClr val="FFFFFF"/>
                </a:solidFill>
                <a:latin typeface="Unbounded" pitchFamily="34" charset="0"/>
              </a:rPr>
              <a:t>analiysed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425219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4252198"/>
            <a:ext cx="2836783" cy="7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chemeClr val="bg1"/>
                </a:solidFill>
              </a:rPr>
              <a:t>Month tends CY and PY Casualties by line graph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691658" y="425219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5469493" y="4252198"/>
            <a:ext cx="2836783" cy="57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chemeClr val="bg1"/>
                </a:solidFill>
              </a:rPr>
              <a:t>Casualties by  road  type from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chemeClr val="bg1"/>
                </a:solidFill>
              </a:rPr>
              <a:t>Bar graph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837724" y="590978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1615560" y="5796022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chemeClr val="bg1"/>
                </a:solidFill>
              </a:rPr>
              <a:t>CY Casualties by urban/rural and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1850" dirty="0" smtClean="0">
                <a:solidFill>
                  <a:schemeClr val="bg1"/>
                </a:solidFill>
              </a:rPr>
              <a:t>Light condition  by light condition will be represented  by Donut chart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837724" y="700926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Box 10"/>
          <p:cNvSpPr txBox="1"/>
          <p:nvPr/>
        </p:nvSpPr>
        <p:spPr>
          <a:xfrm>
            <a:off x="1387905" y="7066251"/>
            <a:ext cx="359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Casualties by Location  through Map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303</Words>
  <Application>Microsoft Office PowerPoint</Application>
  <PresentationFormat>Custom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Cabin</vt:lpstr>
      <vt:lpstr>Unbounded</vt:lpstr>
      <vt:lpstr>Calibri</vt:lpstr>
      <vt:lpstr>Mangal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17</cp:revision>
  <dcterms:created xsi:type="dcterms:W3CDTF">2025-03-06T18:56:14Z</dcterms:created>
  <dcterms:modified xsi:type="dcterms:W3CDTF">2025-03-07T20:34:42Z</dcterms:modified>
</cp:coreProperties>
</file>